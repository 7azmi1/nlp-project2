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742D9-F5FA-A4A2-3460-63EE26001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F8880-6F81-F956-FC87-A4ECCD201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A6C76-B200-58C8-66A8-E3232162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164B-B84A-4CB8-B3FC-7051785B2C9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A695D-5B53-5F0F-5C1F-710104557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5E772-BD9B-974D-4577-C34CCE60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4DFE0-95EF-496F-AED4-48DEFF04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22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2804-D6D7-59CD-862B-5860B682B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559A3-344D-0C73-4B97-BF0DD409F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EE21D-616F-C9BE-2B9A-3A76BFCFA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164B-B84A-4CB8-B3FC-7051785B2C9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3E95D-DABF-A6CC-F520-19E223663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66074-AB1C-662D-B062-E0015F46A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4DFE0-95EF-496F-AED4-48DEFF04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49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7CF18-79D6-A93A-C1B0-44D2536E1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9477A-F612-17A1-DC9D-D2C036ACE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52E08-80EA-B08F-8BE1-A0D5FFFA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164B-B84A-4CB8-B3FC-7051785B2C9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87C56-69DB-1A17-1C72-A07C1172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5A630-1366-2401-C934-B42273B9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4DFE0-95EF-496F-AED4-48DEFF04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10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12F9-0AF3-C18E-A754-B03D995D2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0668-DF73-818F-5F8D-D55DE08B2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170CF-3768-5DA5-EC69-05E90A553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195F-A78F-51E3-8959-970E55AC4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164B-B84A-4CB8-B3FC-7051785B2C9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CD936-CA02-E372-FD9B-9105BD881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AD5D-8A85-60DF-D2D8-A050E927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4DFE0-95EF-496F-AED4-48DEFF04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72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E1C83-8FFA-53C7-17EC-688221533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C3294-62E9-E2B5-F0AA-C5511DE17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BAFEA-CFF4-D0C8-41AA-5F3925862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3029F3-5250-5CB7-4D0E-ADFA1D66D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C02D8-2601-6583-1946-573F57D5C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EF42D-DAA0-1189-934B-CE9C5A039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164B-B84A-4CB8-B3FC-7051785B2C9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09CEF4-B550-0486-5F6B-F85219D9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985DE5-874F-A1A1-5180-8620EAEC4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4DFE0-95EF-496F-AED4-48DEFF04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5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45D9B-A8CC-D269-0C39-8EE140AF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B1255-A3AB-F7BD-761F-4725064FC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164B-B84A-4CB8-B3FC-7051785B2C9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D294E-77C6-3F2B-8B7F-CB8520B92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44A06-B1EB-A7D7-E416-5E176E238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4DFE0-95EF-496F-AED4-48DEFF04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0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5827F-D3C8-0162-0A32-9458AC0C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164B-B84A-4CB8-B3FC-7051785B2C9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CAAC19-37EE-D94C-0220-4D1FA240D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EBF8D-DD90-823B-FB9D-07B39DB3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4DFE0-95EF-496F-AED4-48DEFF04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20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B2FFB-B753-2F34-BD2C-95CDAADFB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E68D7-1297-7C19-1EB7-9E1321C30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2693A-86D0-3D87-5BED-81FED0726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E8ED7-32E0-76C9-6829-FC0F52686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164B-B84A-4CB8-B3FC-7051785B2C9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32C2E-6D2B-F8D0-2200-2F1D5E7FB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91E78-464D-0F1A-9D42-B5A4CBA8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4DFE0-95EF-496F-AED4-48DEFF04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0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83063-1D9B-49D4-4457-D8006F73B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DAB68E-16E5-5F7A-DE2E-9255588D47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FE023-7443-E51F-89C8-BBC7AA98A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441E3-2BD8-8894-2BBC-3B55423B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164B-B84A-4CB8-B3FC-7051785B2C9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6B7FE-E7A6-B055-BAB7-AAC619900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D9444-6CCF-F1FB-12A2-25E7662E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4DFE0-95EF-496F-AED4-48DEFF04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0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015A-5511-2270-29BF-C455337F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08B11-9CE6-01E8-F4E5-8F02ADA9B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68B98-F92D-FE07-612E-3C9F2C39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164B-B84A-4CB8-B3FC-7051785B2C9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5CE3D-503E-FD44-7C9C-C6A8558A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78858-2192-D2B2-8B4C-8C196E4A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4DFE0-95EF-496F-AED4-48DEFF04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94392-0291-FC16-5768-36EC8C394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DE697-4B09-420A-0DE9-3AC2C0BBA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4E16D-D0C2-C6D3-AC4E-2917FC326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164B-B84A-4CB8-B3FC-7051785B2C9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CE8A-5BC4-1DC6-2E9C-6DCBFFA2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A329C-92BF-FCC7-EEA5-5C3F188A5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4DFE0-95EF-496F-AED4-48DEFF04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7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7AFEF9-4E03-B592-2BF4-FF671F473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2D909-F050-AB8B-E29D-738B48DD8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C4F4C-3AAA-6403-5CF7-B657D4ACA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FB164B-B84A-4CB8-B3FC-7051785B2C9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032FD-0F1F-A133-7094-A2F0D3B218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2C82A-2322-194B-3F06-D153939E9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4DFE0-95EF-496F-AED4-48DEFF04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8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94702-4D9E-D531-103E-BE1AB6BE2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effectLst/>
                <a:latin typeface="-apple-system"/>
              </a:rPr>
              <a:t>NLP | Business Case: Automated Customer Reviews</a:t>
            </a:r>
            <a:b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24AA5-1564-CC7A-BF2C-D78B8AE2C9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Mohammed Alhazmi</a:t>
            </a:r>
          </a:p>
        </p:txBody>
      </p:sp>
    </p:spTree>
    <p:extLst>
      <p:ext uri="{BB962C8B-B14F-4D97-AF65-F5344CB8AC3E}">
        <p14:creationId xmlns:p14="http://schemas.microsoft.com/office/powerpoint/2010/main" val="255817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0BA34-87D2-8DFE-1934-7490F4064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-apple-system"/>
              </a:rPr>
              <a:t>Objective</a:t>
            </a:r>
            <a:r>
              <a:rPr lang="en-US" b="0" i="0" dirty="0">
                <a:effectLst/>
                <a:latin typeface="-apple-system"/>
              </a:rPr>
              <a:t>: Classify customer reviews into </a:t>
            </a:r>
            <a:r>
              <a:rPr lang="en-US" b="1" i="0" dirty="0">
                <a:effectLst/>
                <a:latin typeface="-apple-system"/>
              </a:rPr>
              <a:t>positive</a:t>
            </a:r>
            <a:r>
              <a:rPr lang="en-US" b="0" i="0" dirty="0">
                <a:effectLst/>
                <a:latin typeface="-apple-system"/>
              </a:rPr>
              <a:t>, </a:t>
            </a:r>
            <a:r>
              <a:rPr lang="en-US" b="1" i="0" dirty="0">
                <a:effectLst/>
                <a:latin typeface="-apple-system"/>
              </a:rPr>
              <a:t>negative</a:t>
            </a:r>
            <a:r>
              <a:rPr lang="en-US" b="0" i="0" dirty="0">
                <a:effectLst/>
                <a:latin typeface="-apple-system"/>
              </a:rPr>
              <a:t>, or </a:t>
            </a:r>
            <a:r>
              <a:rPr lang="en-US" b="1" i="0" dirty="0">
                <a:effectLst/>
                <a:latin typeface="-apple-system"/>
              </a:rPr>
              <a:t>neutral</a:t>
            </a:r>
            <a:r>
              <a:rPr lang="en-US" b="0" i="0" dirty="0">
                <a:effectLst/>
                <a:latin typeface="-apple-system"/>
              </a:rPr>
              <a:t> categories to help the company improve its products and services.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-apple-system"/>
              </a:rPr>
              <a:t>Task</a:t>
            </a:r>
            <a:r>
              <a:rPr lang="en-US" b="0" i="0" dirty="0">
                <a:effectLst/>
                <a:latin typeface="-apple-system"/>
              </a:rPr>
              <a:t>: Create a model for classifying the </a:t>
            </a:r>
            <a:r>
              <a:rPr lang="en-US" b="1" i="0" dirty="0">
                <a:effectLst/>
                <a:latin typeface="-apple-system"/>
              </a:rPr>
              <a:t>textual content</a:t>
            </a:r>
            <a:r>
              <a:rPr lang="en-US" b="0" i="0" dirty="0">
                <a:effectLst/>
                <a:latin typeface="-apple-system"/>
              </a:rPr>
              <a:t> of reviews into these three categories.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434F943-61F4-9752-3784-8F76789EA7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77041"/>
            <a:ext cx="105156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b="1" i="0" dirty="0">
                <a:effectLst/>
                <a:latin typeface="-apple-system"/>
              </a:rPr>
              <a:t>Task1-Review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268727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39F41-92AC-1CB7-778D-78A2A158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6F904-D9E7-FF29-FA04-B057DE196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Cleaning &amp; Preparation</a:t>
            </a:r>
          </a:p>
          <a:p>
            <a:r>
              <a:rPr lang="en-US" dirty="0"/>
              <a:t>Class Balancing</a:t>
            </a:r>
          </a:p>
          <a:p>
            <a:r>
              <a:rPr lang="en-US" dirty="0"/>
              <a:t>Tokenization   </a:t>
            </a:r>
          </a:p>
          <a:p>
            <a:r>
              <a:rPr lang="en-US" dirty="0"/>
              <a:t>Dataset Construction     </a:t>
            </a:r>
          </a:p>
          <a:p>
            <a:r>
              <a:rPr lang="en-US" dirty="0"/>
              <a:t>Model Training</a:t>
            </a:r>
          </a:p>
          <a:p>
            <a:r>
              <a:rPr lang="en-US" dirty="0"/>
              <a:t>Deployment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2086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3D830-6577-5F83-3D12-13E739CDF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Preprocessing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02DFA-5D88-4AEC-2111-C54CFB51A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868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Applied a custom </a:t>
            </a:r>
            <a:r>
              <a:rPr lang="en-US" dirty="0" err="1"/>
              <a:t>clean_text</a:t>
            </a:r>
            <a:r>
              <a:rPr lang="en-US" dirty="0"/>
              <a:t>() function:</a:t>
            </a:r>
          </a:p>
          <a:p>
            <a:pPr>
              <a:buNone/>
            </a:pPr>
            <a:r>
              <a:rPr lang="en-US" dirty="0"/>
              <a:t>Lowercased text</a:t>
            </a:r>
          </a:p>
          <a:p>
            <a:pPr>
              <a:buNone/>
            </a:pPr>
            <a:r>
              <a:rPr lang="en-US" dirty="0"/>
              <a:t>Removed HTML tags and special characters</a:t>
            </a:r>
          </a:p>
          <a:p>
            <a:pPr marL="0" indent="0">
              <a:buNone/>
            </a:pPr>
            <a:r>
              <a:rPr lang="en-US" dirty="0"/>
              <a:t>Normalized whitespace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Sentiment classification of review descriptions based on the star rating:</a:t>
            </a:r>
          </a:p>
          <a:p>
            <a:pPr>
              <a:buNone/>
            </a:pPr>
            <a:r>
              <a:rPr lang="en-US" dirty="0"/>
              <a:t>1–2 stars → Negative</a:t>
            </a:r>
          </a:p>
          <a:p>
            <a:pPr>
              <a:buNone/>
            </a:pPr>
            <a:r>
              <a:rPr lang="en-US" dirty="0"/>
              <a:t>3 stars → Neutral</a:t>
            </a:r>
          </a:p>
          <a:p>
            <a:r>
              <a:rPr lang="en-US" dirty="0"/>
              <a:t>4–5 stars → Positive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34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0325-1667-69B1-38DF-CA6E9CA4F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&amp; Preparation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3A9D1-C825-E7E4-969E-7D3EEFA63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Merged two datasets:</a:t>
            </a:r>
          </a:p>
          <a:p>
            <a:pPr>
              <a:buNone/>
            </a:pPr>
            <a:r>
              <a:rPr lang="en-US" b="1" dirty="0" err="1"/>
              <a:t>df</a:t>
            </a:r>
            <a:r>
              <a:rPr lang="en-US" dirty="0"/>
              <a:t> containing review-related metadata(users)</a:t>
            </a:r>
          </a:p>
          <a:p>
            <a:pPr>
              <a:buNone/>
            </a:pPr>
            <a:r>
              <a:rPr lang="en-US" b="1" dirty="0" err="1"/>
              <a:t>meta_df</a:t>
            </a:r>
            <a:r>
              <a:rPr lang="en-US" b="1" dirty="0"/>
              <a:t> </a:t>
            </a:r>
            <a:r>
              <a:rPr lang="en-US" dirty="0"/>
              <a:t>containing </a:t>
            </a:r>
            <a:r>
              <a:rPr lang="en-US" dirty="0" err="1"/>
              <a:t>parent_asin</a:t>
            </a:r>
            <a:r>
              <a:rPr lang="en-US" dirty="0"/>
              <a:t>, description, </a:t>
            </a:r>
            <a:r>
              <a:rPr lang="en-US" dirty="0" err="1"/>
              <a:t>main_category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pPr>
              <a:buNone/>
            </a:pPr>
            <a:r>
              <a:rPr lang="en-US" dirty="0"/>
              <a:t>(items).</a:t>
            </a:r>
          </a:p>
          <a:p>
            <a:pPr>
              <a:buNone/>
            </a:pPr>
            <a:r>
              <a:rPr lang="en-US" dirty="0"/>
              <a:t>Joined using </a:t>
            </a:r>
            <a:r>
              <a:rPr lang="en-US" dirty="0" err="1"/>
              <a:t>parent_asin</a:t>
            </a:r>
            <a:r>
              <a:rPr lang="en-US" dirty="0"/>
              <a:t> as the key</a:t>
            </a:r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3B064-CB6D-554F-48D7-4958108D5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21" y="4472848"/>
            <a:ext cx="9431066" cy="223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47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4071-4075-918A-C1E2-2A48F0140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Balancing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CBB0B2AD-3F08-6F39-7658-5E1554E1EA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236" y="1528753"/>
            <a:ext cx="8146816" cy="4351338"/>
          </a:xfrm>
        </p:spPr>
      </p:pic>
    </p:spTree>
    <p:extLst>
      <p:ext uri="{BB962C8B-B14F-4D97-AF65-F5344CB8AC3E}">
        <p14:creationId xmlns:p14="http://schemas.microsoft.com/office/powerpoint/2010/main" val="1605972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BAB8D-2D0A-0CCD-F49B-3BBDE8144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Balancing</a:t>
            </a:r>
            <a:br>
              <a:rPr lang="en-US" dirty="0"/>
            </a:br>
            <a:endParaRPr lang="en-US" dirty="0"/>
          </a:p>
        </p:txBody>
      </p:sp>
      <p:pic>
        <p:nvPicPr>
          <p:cNvPr id="9" name="Content Placeholder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C3A024D-BF0B-494E-756E-6400F36240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74" y="1532774"/>
            <a:ext cx="7039957" cy="4153480"/>
          </a:xfrm>
        </p:spPr>
      </p:pic>
    </p:spTree>
    <p:extLst>
      <p:ext uri="{BB962C8B-B14F-4D97-AF65-F5344CB8AC3E}">
        <p14:creationId xmlns:p14="http://schemas.microsoft.com/office/powerpoint/2010/main" val="3871463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45CD-41CA-AA2B-72A1-5458EBC8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Balancing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 descr="A graph with blue squares&#10;&#10;AI-generated content may be incorrect.">
            <a:extLst>
              <a:ext uri="{FF2B5EF4-FFF2-40B4-BE49-F238E27FC236}">
                <a16:creationId xmlns:a16="http://schemas.microsoft.com/office/drawing/2014/main" id="{0764E786-B911-CFA1-0955-0EFC29BD7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64" y="2062972"/>
            <a:ext cx="4734586" cy="3667637"/>
          </a:xfrm>
        </p:spPr>
      </p:pic>
      <p:pic>
        <p:nvPicPr>
          <p:cNvPr id="7" name="Picture 6" descr="A graph with blue bars&#10;&#10;AI-generated content may be incorrect.">
            <a:extLst>
              <a:ext uri="{FF2B5EF4-FFF2-40B4-BE49-F238E27FC236}">
                <a16:creationId xmlns:a16="http://schemas.microsoft.com/office/drawing/2014/main" id="{FB7D3378-7AD6-67F0-D2A1-82420FE56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775" y="2062972"/>
            <a:ext cx="4903463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839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F9498-8DC8-F2B4-4E2E-411E7394C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&amp;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C377-A8D4-979E-DB24-551B04E96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76252"/>
            <a:ext cx="11049000" cy="528174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Tokenization</a:t>
            </a:r>
          </a:p>
          <a:p>
            <a:pPr>
              <a:buNone/>
            </a:pPr>
            <a:r>
              <a:rPr lang="en-US" dirty="0"/>
              <a:t>Used </a:t>
            </a:r>
            <a:r>
              <a:rPr lang="en-US" dirty="0" err="1"/>
              <a:t>RoBERTa</a:t>
            </a:r>
            <a:r>
              <a:rPr lang="en-US" dirty="0"/>
              <a:t> tokenizer (</a:t>
            </a:r>
            <a:r>
              <a:rPr lang="en-US" dirty="0" err="1"/>
              <a:t>roberta</a:t>
            </a:r>
            <a:r>
              <a:rPr lang="en-US" dirty="0"/>
              <a:t>-base) to process the description text</a:t>
            </a:r>
          </a:p>
          <a:p>
            <a:pPr marL="0" indent="0">
              <a:buNone/>
            </a:pPr>
            <a:r>
              <a:rPr lang="en-US" dirty="0"/>
              <a:t>Applied truncation and padding with max sequence length of 128 tokens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 Dataset Construction</a:t>
            </a:r>
          </a:p>
          <a:p>
            <a:pPr>
              <a:buNone/>
            </a:pPr>
            <a:r>
              <a:rPr lang="en-US" dirty="0"/>
              <a:t>Built a custom </a:t>
            </a:r>
            <a:r>
              <a:rPr lang="en-US" dirty="0" err="1"/>
              <a:t>PyTorch</a:t>
            </a:r>
            <a:r>
              <a:rPr lang="en-US" dirty="0"/>
              <a:t> Dataset class for training and validation</a:t>
            </a:r>
          </a:p>
          <a:p>
            <a:pPr>
              <a:buNone/>
            </a:pPr>
            <a:r>
              <a:rPr lang="en-US" dirty="0"/>
              <a:t>Enabled Hugging Face Trainer to work seamlessly with encoded inputs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 Model Training</a:t>
            </a:r>
          </a:p>
          <a:p>
            <a:pPr>
              <a:buNone/>
            </a:pPr>
            <a:r>
              <a:rPr lang="en-US" dirty="0"/>
              <a:t>Used </a:t>
            </a:r>
            <a:r>
              <a:rPr lang="en-US" dirty="0" err="1"/>
              <a:t>RoBERTa</a:t>
            </a:r>
            <a:r>
              <a:rPr lang="en-US" dirty="0"/>
              <a:t>-based model via </a:t>
            </a:r>
            <a:r>
              <a:rPr lang="en-US" dirty="0" err="1"/>
              <a:t>AutoModelForSequenceClassification</a:t>
            </a:r>
            <a:endParaRPr lang="en-US" dirty="0"/>
          </a:p>
          <a:p>
            <a:pPr>
              <a:buNone/>
            </a:pPr>
            <a:r>
              <a:rPr lang="en-US" dirty="0"/>
              <a:t>Configured for 3 output labels (positive, neutral, negative)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900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C858D-F771-02D9-6D9B-664413C03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&amp; Evaluation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26EBCB-CF30-4053-38F1-DB26B321E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689" y="1862863"/>
            <a:ext cx="5546311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4560AA-81C1-AF01-82B4-7719E62622C3}"/>
              </a:ext>
            </a:extLst>
          </p:cNvPr>
          <p:cNvSpPr txBox="1"/>
          <p:nvPr/>
        </p:nvSpPr>
        <p:spPr>
          <a:xfrm>
            <a:off x="6322423" y="1994263"/>
            <a:ext cx="5617028" cy="4219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Evaluation Results (after 2 epochs):</a:t>
            </a:r>
          </a:p>
          <a:p>
            <a:pPr>
              <a:buNone/>
            </a:pPr>
            <a:r>
              <a:rPr lang="en-US" b="1" dirty="0"/>
              <a:t>Evaluation Loss: 0.3379</a:t>
            </a:r>
          </a:p>
          <a:p>
            <a:pPr>
              <a:buNone/>
            </a:pPr>
            <a:r>
              <a:rPr lang="en-US" b="1" dirty="0"/>
              <a:t>Accuracy: 90.16%</a:t>
            </a:r>
          </a:p>
          <a:p>
            <a:pPr>
              <a:buNone/>
            </a:pPr>
            <a:r>
              <a:rPr lang="en-US" b="1" dirty="0"/>
              <a:t>F1 Score: 0.8982</a:t>
            </a:r>
          </a:p>
          <a:p>
            <a:pPr>
              <a:buNone/>
            </a:pPr>
            <a:r>
              <a:rPr lang="en-US" b="1" dirty="0"/>
              <a:t>Precision: 0.8956</a:t>
            </a:r>
          </a:p>
          <a:p>
            <a:pPr>
              <a:buNone/>
            </a:pPr>
            <a:r>
              <a:rPr lang="en-US" b="1" dirty="0"/>
              <a:t>Recall: 0.9016</a:t>
            </a:r>
          </a:p>
          <a:p>
            <a:pPr>
              <a:buNone/>
            </a:pPr>
            <a:r>
              <a:rPr lang="en-US" dirty="0"/>
              <a:t>Evaluation Runtime: 73.94 seconds</a:t>
            </a:r>
          </a:p>
          <a:p>
            <a:pPr>
              <a:buNone/>
            </a:pPr>
            <a:r>
              <a:rPr lang="en-US" dirty="0"/>
              <a:t>Samples/sec: 270.51</a:t>
            </a:r>
          </a:p>
          <a:p>
            <a:pPr>
              <a:buNone/>
            </a:pPr>
            <a:r>
              <a:rPr lang="en-US" dirty="0"/>
              <a:t>Steps/sec: 16.91</a:t>
            </a:r>
          </a:p>
          <a:p>
            <a:pPr>
              <a:buNone/>
            </a:pPr>
            <a:r>
              <a:rPr lang="en-US" b="1" dirty="0"/>
              <a:t>Training Summary:</a:t>
            </a:r>
          </a:p>
          <a:p>
            <a:pPr>
              <a:buNone/>
            </a:pPr>
            <a:r>
              <a:rPr lang="en-US" dirty="0"/>
              <a:t>Total Training Time: 2985.78 seconds</a:t>
            </a:r>
          </a:p>
          <a:p>
            <a:pPr>
              <a:buNone/>
            </a:pPr>
            <a:r>
              <a:rPr lang="en-US" dirty="0"/>
              <a:t>Training Samples/sec: 53.59</a:t>
            </a:r>
          </a:p>
          <a:p>
            <a:pPr>
              <a:buNone/>
            </a:pPr>
            <a:r>
              <a:rPr lang="en-US" dirty="0"/>
              <a:t>Training Steps/sec: 6.70</a:t>
            </a:r>
          </a:p>
          <a:p>
            <a:pPr>
              <a:buNone/>
            </a:pPr>
            <a:r>
              <a:rPr lang="en-US" dirty="0"/>
              <a:t>Final Training Loss: 0.3110</a:t>
            </a:r>
          </a:p>
          <a:p>
            <a:r>
              <a:rPr lang="en-US" dirty="0"/>
              <a:t>Epochs Completed: 2</a:t>
            </a:r>
          </a:p>
        </p:txBody>
      </p:sp>
    </p:spTree>
    <p:extLst>
      <p:ext uri="{BB962C8B-B14F-4D97-AF65-F5344CB8AC3E}">
        <p14:creationId xmlns:p14="http://schemas.microsoft.com/office/powerpoint/2010/main" val="4056286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248B-E199-F93A-2811-96950868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09CDD1E-0371-B8D6-5841-69CEDEFDA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64665"/>
            <a:ext cx="3753389" cy="4351338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A1CEF4-45CD-DAC1-3721-33610CCA9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699" y="2324559"/>
            <a:ext cx="4292578" cy="345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757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6892-6135-3606-029C-B5FAEE91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&amp; Deployment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EC023-DF86-3BE8-55AA-3B2368A8B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Loaded trained model + tokenizer.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Deployed via </a:t>
            </a:r>
            <a:r>
              <a:rPr lang="en-US" dirty="0" err="1"/>
              <a:t>Gradio</a:t>
            </a:r>
            <a:r>
              <a:rPr lang="en-US" dirty="0"/>
              <a:t> interface with live input.</a:t>
            </a:r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 format: "Sentiment Label (Confidence Score)"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242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4507-A70D-04C6-BC98-7E23C5C7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Task-2 Product Category Clustering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5F224-A97A-21BE-8F94-37EB2AD15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Goal</a:t>
            </a:r>
          </a:p>
          <a:p>
            <a:pPr marL="0" indent="0">
              <a:buNone/>
            </a:pPr>
            <a:r>
              <a:rPr lang="en-US" dirty="0"/>
              <a:t>Group product descriptions into </a:t>
            </a:r>
            <a:r>
              <a:rPr lang="en-US" b="1" dirty="0"/>
              <a:t>broader clusters</a:t>
            </a:r>
            <a:r>
              <a:rPr lang="en-US" dirty="0"/>
              <a:t> to better organize and analyze similar products.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242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FAF6E-BEF4-37F7-81F7-A3E539081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91" y="992777"/>
            <a:ext cx="11057709" cy="57912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3300" dirty="0"/>
              <a:t>Input: Used the </a:t>
            </a:r>
            <a:r>
              <a:rPr lang="en-US" sz="3300" dirty="0" err="1"/>
              <a:t>cleaned_title</a:t>
            </a:r>
            <a:r>
              <a:rPr lang="en-US" sz="3300" dirty="0"/>
              <a:t> column as the base text for clustering</a:t>
            </a:r>
          </a:p>
          <a:p>
            <a:pPr>
              <a:buNone/>
            </a:pPr>
            <a:r>
              <a:rPr lang="en-US" sz="3300" b="1" dirty="0"/>
              <a:t>Feature Engineering </a:t>
            </a:r>
          </a:p>
          <a:p>
            <a:pPr>
              <a:buNone/>
            </a:pPr>
            <a:endParaRPr lang="en-US" sz="3300" dirty="0"/>
          </a:p>
          <a:p>
            <a:pPr>
              <a:buNone/>
            </a:pPr>
            <a:r>
              <a:rPr lang="en-US" sz="3300" b="1" dirty="0"/>
              <a:t>TF-IDF:</a:t>
            </a:r>
          </a:p>
          <a:p>
            <a:pPr>
              <a:buNone/>
            </a:pPr>
            <a:r>
              <a:rPr lang="en-US" sz="3300" dirty="0"/>
              <a:t>Captures word importance across product titles</a:t>
            </a:r>
          </a:p>
          <a:p>
            <a:pPr>
              <a:buNone/>
            </a:pPr>
            <a:r>
              <a:rPr lang="en-US" sz="3300" dirty="0"/>
              <a:t>Max features: 10,000 | N-grams: (1,3) | Min DF: 5 | Max DF: 0.8</a:t>
            </a:r>
          </a:p>
          <a:p>
            <a:pPr>
              <a:buNone/>
            </a:pPr>
            <a:endParaRPr lang="en-US" sz="3300" dirty="0"/>
          </a:p>
          <a:p>
            <a:pPr>
              <a:buNone/>
            </a:pPr>
            <a:r>
              <a:rPr lang="en-US" sz="3300" b="1" dirty="0"/>
              <a:t>SBERT (Sentence-BERT):</a:t>
            </a:r>
          </a:p>
          <a:p>
            <a:pPr marL="0" indent="0">
              <a:buNone/>
            </a:pPr>
            <a:r>
              <a:rPr lang="en-US" sz="3300" dirty="0"/>
              <a:t>Used pretrained transformer model: all-MiniLM-L6-v2</a:t>
            </a:r>
          </a:p>
          <a:p>
            <a:pPr>
              <a:buNone/>
            </a:pPr>
            <a:endParaRPr lang="en-US" sz="3300" dirty="0"/>
          </a:p>
          <a:p>
            <a:pPr>
              <a:buNone/>
            </a:pPr>
            <a:r>
              <a:rPr lang="en-US" sz="3300" b="1" dirty="0"/>
              <a:t>Dimensionality Reduction:</a:t>
            </a:r>
          </a:p>
          <a:p>
            <a:pPr>
              <a:buNone/>
            </a:pPr>
            <a:r>
              <a:rPr lang="en-US" sz="3300" dirty="0"/>
              <a:t>Applied </a:t>
            </a:r>
            <a:r>
              <a:rPr lang="en-US" sz="3300" dirty="0" err="1"/>
              <a:t>TruncatedSVD</a:t>
            </a:r>
            <a:r>
              <a:rPr lang="en-US" sz="3300" dirty="0"/>
              <a:t> (similar to LSA) to reduce TF-IDF to 100 components</a:t>
            </a:r>
          </a:p>
          <a:p>
            <a:pPr>
              <a:buNone/>
            </a:pPr>
            <a:endParaRPr lang="en-US" sz="3300" dirty="0"/>
          </a:p>
          <a:p>
            <a:pPr>
              <a:buNone/>
            </a:pPr>
            <a:r>
              <a:rPr lang="en-US" sz="3300" b="1" dirty="0"/>
              <a:t>Clustering Algorithm:</a:t>
            </a:r>
          </a:p>
          <a:p>
            <a:pPr>
              <a:buNone/>
            </a:pPr>
            <a:r>
              <a:rPr lang="en-US" sz="3300" dirty="0"/>
              <a:t>Used </a:t>
            </a:r>
            <a:r>
              <a:rPr lang="en-US" sz="3300" dirty="0" err="1"/>
              <a:t>KMeans</a:t>
            </a:r>
            <a:r>
              <a:rPr lang="en-US" sz="3300" dirty="0"/>
              <a:t> clustering</a:t>
            </a:r>
          </a:p>
          <a:p>
            <a:pPr marL="0" indent="0">
              <a:buNone/>
            </a:pPr>
            <a:r>
              <a:rPr lang="en-US" sz="3300" dirty="0"/>
              <a:t>Chose 5 clusters based on elbow method + domain logic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D312D3-89E6-C364-BB38-830B771AC3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-235766"/>
            <a:ext cx="10515600" cy="1325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417387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A689-4892-65A8-855B-45D37FBD4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671DB1-B5E3-48AB-858C-6C4055353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087" y="2199368"/>
            <a:ext cx="3638871" cy="292458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C963DB-BB09-61F8-7FDA-F14832FD7923}"/>
              </a:ext>
            </a:extLst>
          </p:cNvPr>
          <p:cNvSpPr txBox="1"/>
          <p:nvPr/>
        </p:nvSpPr>
        <p:spPr>
          <a:xfrm>
            <a:off x="5416731" y="1393371"/>
            <a:ext cx="647917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Cluster 0 – 📸 Photography &amp; Video Equipment</a:t>
            </a:r>
          </a:p>
          <a:p>
            <a:pPr>
              <a:buNone/>
            </a:pPr>
            <a:r>
              <a:rPr lang="en-US" dirty="0"/>
              <a:t>Top keywords: camera, lens, backdrop, photo, mount, tripod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Cluster 1 – 💻 Computers &amp; Hardware</a:t>
            </a:r>
          </a:p>
          <a:p>
            <a:pPr>
              <a:buNone/>
            </a:pPr>
            <a:r>
              <a:rPr lang="en-US" dirty="0"/>
              <a:t>Top keywords: laptop, </a:t>
            </a:r>
            <a:r>
              <a:rPr lang="en-US" dirty="0" err="1"/>
              <a:t>usb</a:t>
            </a:r>
            <a:r>
              <a:rPr lang="en-US" dirty="0"/>
              <a:t>, drive, ram, </a:t>
            </a:r>
            <a:r>
              <a:rPr lang="en-US" dirty="0" err="1"/>
              <a:t>ssd</a:t>
            </a:r>
            <a:r>
              <a:rPr lang="en-US" dirty="0"/>
              <a:t>, intel, window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Cluster 2 – 🎧 Audio &amp; Bluetooth Devices</a:t>
            </a:r>
          </a:p>
          <a:p>
            <a:pPr>
              <a:buNone/>
            </a:pPr>
            <a:r>
              <a:rPr lang="en-US" dirty="0"/>
              <a:t>Top keywords: headphone, </a:t>
            </a:r>
            <a:r>
              <a:rPr lang="en-US" dirty="0" err="1"/>
              <a:t>bluetooth</a:t>
            </a:r>
            <a:r>
              <a:rPr lang="en-US" dirty="0"/>
              <a:t>, speaker, ear, wireless, mic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Cluster 3 – 📱 Tablet &amp; Phone Cases</a:t>
            </a:r>
          </a:p>
          <a:p>
            <a:pPr>
              <a:buNone/>
            </a:pPr>
            <a:r>
              <a:rPr lang="en-US" dirty="0"/>
              <a:t>Top keywords: case, cover, </a:t>
            </a:r>
            <a:r>
              <a:rPr lang="en-US" dirty="0" err="1"/>
              <a:t>ipad</a:t>
            </a:r>
            <a:r>
              <a:rPr lang="en-US" dirty="0"/>
              <a:t>, tablet, </a:t>
            </a:r>
            <a:r>
              <a:rPr lang="en-US" dirty="0" err="1"/>
              <a:t>macbook</a:t>
            </a:r>
            <a:r>
              <a:rPr lang="en-US" dirty="0"/>
              <a:t>, screen protector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Cluster 4 – 🔌 Cables &amp; Chargers</a:t>
            </a:r>
          </a:p>
          <a:p>
            <a:r>
              <a:rPr lang="en-US" dirty="0"/>
              <a:t>Top keywords: cable, adapter, </a:t>
            </a:r>
            <a:r>
              <a:rPr lang="en-US" dirty="0" err="1"/>
              <a:t>usb</a:t>
            </a:r>
            <a:r>
              <a:rPr lang="en-US" dirty="0"/>
              <a:t>, charger, </a:t>
            </a:r>
            <a:r>
              <a:rPr lang="en-US" dirty="0" err="1"/>
              <a:t>hdmi</a:t>
            </a:r>
            <a:r>
              <a:rPr lang="en-US" dirty="0"/>
              <a:t>, power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179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1A83-D9E3-BE32-3C06-9BF893BAC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&amp; visualizations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8145ECC0-B786-7B47-C99A-9856568AD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97" y="1690688"/>
            <a:ext cx="8577942" cy="4735740"/>
          </a:xfrm>
        </p:spPr>
      </p:pic>
    </p:spTree>
    <p:extLst>
      <p:ext uri="{BB962C8B-B14F-4D97-AF65-F5344CB8AC3E}">
        <p14:creationId xmlns:p14="http://schemas.microsoft.com/office/powerpoint/2010/main" val="3900238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F63BE-250D-85E2-992F-20C2D707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46E38-DDC4-D3A0-B277-360BCE1B3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4809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Model Limitation:</a:t>
            </a:r>
          </a:p>
          <a:p>
            <a:pPr>
              <a:buNone/>
            </a:pPr>
            <a:r>
              <a:rPr lang="en-US" dirty="0" err="1"/>
              <a:t>KMeans</a:t>
            </a:r>
            <a:r>
              <a:rPr lang="en-US" dirty="0"/>
              <a:t> assumes spherical clusters and equal variance, which may not capture</a:t>
            </a:r>
          </a:p>
          <a:p>
            <a:pPr>
              <a:buNone/>
            </a:pPr>
            <a:r>
              <a:rPr lang="en-US" dirty="0"/>
              <a:t> complex structures in semantic product data.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Suggested Alternative:</a:t>
            </a:r>
          </a:p>
          <a:p>
            <a:pPr>
              <a:buNone/>
            </a:pPr>
            <a:r>
              <a:rPr lang="en-US" dirty="0"/>
              <a:t>Try Hierarchical Clustering for better flexibility:</a:t>
            </a:r>
          </a:p>
          <a:p>
            <a:pPr>
              <a:buNone/>
            </a:pPr>
            <a:r>
              <a:rPr lang="en-US" dirty="0"/>
              <a:t>Does not require predefining the number of clusters</a:t>
            </a:r>
          </a:p>
          <a:p>
            <a:pPr>
              <a:buNone/>
            </a:pPr>
            <a:r>
              <a:rPr lang="en-US" dirty="0"/>
              <a:t>Captures nested groupings and fine-grained category splits</a:t>
            </a:r>
          </a:p>
          <a:p>
            <a:pPr>
              <a:buNone/>
            </a:pPr>
            <a:r>
              <a:rPr lang="en-US" dirty="0"/>
              <a:t>Allows visualization with dendrograms to explore relationships between products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Advanced Options:</a:t>
            </a:r>
          </a:p>
          <a:p>
            <a:pPr>
              <a:buNone/>
            </a:pPr>
            <a:r>
              <a:rPr lang="en-US" dirty="0"/>
              <a:t>Experiment with HDBSCAN for density-based semantic clustering</a:t>
            </a:r>
          </a:p>
          <a:p>
            <a:pPr marL="0" indent="0">
              <a:buNone/>
            </a:pPr>
            <a:r>
              <a:rPr lang="en-US" dirty="0"/>
              <a:t>Use topic modeling (e.g., </a:t>
            </a:r>
            <a:r>
              <a:rPr lang="en-US" dirty="0" err="1"/>
              <a:t>BERTopic</a:t>
            </a:r>
            <a:r>
              <a:rPr lang="en-US" dirty="0"/>
              <a:t> or LDA) to extract interpretable category topics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958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7BF1A-9C20-054E-9BD6-7E27081C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Task3-AI-Powered Product Summarization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7A204-B61D-FADD-6F05-96A9920B7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Automatically generate structured summaries comparing top-rated products in each Amazon category using customer reviews.</a:t>
            </a:r>
          </a:p>
        </p:txBody>
      </p:sp>
    </p:spTree>
    <p:extLst>
      <p:ext uri="{BB962C8B-B14F-4D97-AF65-F5344CB8AC3E}">
        <p14:creationId xmlns:p14="http://schemas.microsoft.com/office/powerpoint/2010/main" val="3343831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6F67-2229-3956-849B-D741730DE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32183-9096-6395-2881-CCA9EFFF4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/>
              <a:t>Data Merging: Combined user reviews with product metadata using </a:t>
            </a:r>
            <a:r>
              <a:rPr lang="en-US" dirty="0" err="1"/>
              <a:t>parent_asin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Sentiment Analysis: Used </a:t>
            </a:r>
            <a:r>
              <a:rPr lang="en-US" dirty="0" err="1"/>
              <a:t>DistilBERT</a:t>
            </a:r>
            <a:r>
              <a:rPr lang="en-US" dirty="0"/>
              <a:t> (distilbert-base-uncased-finetuned-sst-2-english) to label each review as Positive, Neutral, or Negative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Ranking Products:</a:t>
            </a:r>
          </a:p>
          <a:p>
            <a:pPr>
              <a:buNone/>
            </a:pPr>
            <a:r>
              <a:rPr lang="en-US" dirty="0"/>
              <a:t>Score = 0.5 × Avg Rating + 0.3 × log(Review Count) + 0.2 × Positive Ratio</a:t>
            </a:r>
          </a:p>
          <a:p>
            <a:pPr>
              <a:buNone/>
            </a:pPr>
            <a:r>
              <a:rPr lang="en-US" dirty="0"/>
              <a:t>Selected Top 3 and Worst 1 per category</a:t>
            </a:r>
          </a:p>
          <a:p>
            <a:pPr>
              <a:buNone/>
            </a:pPr>
            <a:r>
              <a:rPr lang="en-US" dirty="0"/>
              <a:t>Complaint Extraction: Extracted common negative terms from poor reviews (e.g., “defective”, “broken”)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Structured Summarization: Generated markdown summaries with:</a:t>
            </a:r>
          </a:p>
          <a:p>
            <a:pPr>
              <a:buNone/>
            </a:pPr>
            <a:r>
              <a:rPr lang="en-US" dirty="0"/>
              <a:t>Header and Top 3 Products</a:t>
            </a:r>
          </a:p>
          <a:p>
            <a:pPr>
              <a:buNone/>
            </a:pPr>
            <a:r>
              <a:rPr lang="en-US" dirty="0"/>
              <a:t>Key Differences (manual/optional)</a:t>
            </a:r>
          </a:p>
          <a:p>
            <a:pPr>
              <a:buNone/>
            </a:pPr>
            <a:r>
              <a:rPr lang="en-US" dirty="0"/>
              <a:t>Product to Avoid</a:t>
            </a:r>
          </a:p>
          <a:p>
            <a:pPr marL="0" indent="0">
              <a:buNone/>
            </a:pPr>
            <a:r>
              <a:rPr lang="en-US" dirty="0"/>
              <a:t>Final Recommendation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810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3D330-9E0A-04E2-487E-B77A47DF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Workflow (Flowchart)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1D4D3-9971-2B57-7217-789131304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75609" cy="4351338"/>
          </a:xfrm>
        </p:spPr>
        <p:txBody>
          <a:bodyPr/>
          <a:lstStyle/>
          <a:p>
            <a:r>
              <a:rPr lang="en-US" dirty="0"/>
              <a:t>[ Raw JSONL Reviews ] ──▶ [ Data Merge ] ──▶ [ Sentiment Analysis ]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│                      │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▼                    ▼</a:t>
            </a:r>
          </a:p>
          <a:p>
            <a:pPr marL="0" indent="0">
              <a:buNone/>
            </a:pPr>
            <a:r>
              <a:rPr lang="en-US" dirty="0"/>
              <a:t>                                           [ Product Ranking ] ──▶ [ Article Generator ] ──▶              [ .md Output + Console 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06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C6F41-8AF7-AC46-7E88-35C4EC9AD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04F8C3-6214-A6A6-3256-2C01E1DC5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63206"/>
            <a:ext cx="10515600" cy="3476176"/>
          </a:xfrm>
        </p:spPr>
      </p:pic>
    </p:spTree>
    <p:extLst>
      <p:ext uri="{BB962C8B-B14F-4D97-AF65-F5344CB8AC3E}">
        <p14:creationId xmlns:p14="http://schemas.microsoft.com/office/powerpoint/2010/main" val="2120049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426D-DE8F-3B29-4BE5-58BBBBA1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A37333-3E53-5231-5168-5934ADFC3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963" y="1913206"/>
            <a:ext cx="11254154" cy="4417255"/>
          </a:xfrm>
        </p:spPr>
      </p:pic>
    </p:spTree>
    <p:extLst>
      <p:ext uri="{BB962C8B-B14F-4D97-AF65-F5344CB8AC3E}">
        <p14:creationId xmlns:p14="http://schemas.microsoft.com/office/powerpoint/2010/main" val="1809126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A1BB-7AC2-E82C-4B6B-FC28DD93F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C4FB60-9D0C-87B8-86FF-8AA61E481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369" y="2424865"/>
            <a:ext cx="10861431" cy="3807123"/>
          </a:xfrm>
        </p:spPr>
      </p:pic>
    </p:spTree>
    <p:extLst>
      <p:ext uri="{BB962C8B-B14F-4D97-AF65-F5344CB8AC3E}">
        <p14:creationId xmlns:p14="http://schemas.microsoft.com/office/powerpoint/2010/main" val="1085716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0B49-AFC2-0F79-F930-3EFDB3686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14E193-520B-6AB8-1A01-9D6EEC115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707" y="1941342"/>
            <a:ext cx="10986867" cy="4262510"/>
          </a:xfrm>
        </p:spPr>
      </p:pic>
    </p:spTree>
    <p:extLst>
      <p:ext uri="{BB962C8B-B14F-4D97-AF65-F5344CB8AC3E}">
        <p14:creationId xmlns:p14="http://schemas.microsoft.com/office/powerpoint/2010/main" val="1977815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818</Words>
  <Application>Microsoft Office PowerPoint</Application>
  <PresentationFormat>Widescreen</PresentationFormat>
  <Paragraphs>142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-apple-system</vt:lpstr>
      <vt:lpstr>Aptos</vt:lpstr>
      <vt:lpstr>Aptos Display</vt:lpstr>
      <vt:lpstr>Arial</vt:lpstr>
      <vt:lpstr>Office Theme</vt:lpstr>
      <vt:lpstr>NLP | Business Case: Automated Customer Reviews </vt:lpstr>
      <vt:lpstr>Task1-Review Classification</vt:lpstr>
      <vt:lpstr>Methodology</vt:lpstr>
      <vt:lpstr>Text Preprocessing </vt:lpstr>
      <vt:lpstr>Data Cleaning &amp; Preparation </vt:lpstr>
      <vt:lpstr>Class Balancing </vt:lpstr>
      <vt:lpstr>Class Balancing </vt:lpstr>
      <vt:lpstr>Class Balancing </vt:lpstr>
      <vt:lpstr>Tokenization &amp; Training</vt:lpstr>
      <vt:lpstr>Training &amp; Evaluation </vt:lpstr>
      <vt:lpstr>Results </vt:lpstr>
      <vt:lpstr>Demo &amp; Deployment </vt:lpstr>
      <vt:lpstr>Task-2 Product Category Clustering </vt:lpstr>
      <vt:lpstr>Methodology</vt:lpstr>
      <vt:lpstr>Result </vt:lpstr>
      <vt:lpstr>Result &amp; visualizations</vt:lpstr>
      <vt:lpstr>Improvements &amp; Future Work</vt:lpstr>
      <vt:lpstr>Task3-AI-Powered Product Summarization</vt:lpstr>
      <vt:lpstr>Methodology</vt:lpstr>
      <vt:lpstr>System Workflow (Flowchart)</vt:lpstr>
      <vt:lpstr>Result </vt:lpstr>
      <vt:lpstr>Result</vt:lpstr>
      <vt:lpstr>Result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محمد فالح عبدالحميد الحازمي</dc:creator>
  <cp:lastModifiedBy>محمد فالح عبدالحميد الحازمي</cp:lastModifiedBy>
  <cp:revision>2</cp:revision>
  <dcterms:created xsi:type="dcterms:W3CDTF">2025-04-14T09:14:28Z</dcterms:created>
  <dcterms:modified xsi:type="dcterms:W3CDTF">2025-04-14T11:45:40Z</dcterms:modified>
</cp:coreProperties>
</file>